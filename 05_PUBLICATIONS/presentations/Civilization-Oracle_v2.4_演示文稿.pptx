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48640"/>
            <a:ext cx="2286000" cy="36576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858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30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Civilization-Oracle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基于中华文明语义深度分析的历史预测系统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280160" cy="347472"/>
          </a:xfrm>
          <a:prstGeom prst="rect">
            <a:avLst>
              <a:gd name="adj" fmla="val 13158"/>
            </a:avLst>
          </a:prstGeom>
          <a:solidFill>
            <a:srgbClr val="78000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488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DF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v2.4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6400800" cy="18288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王滇让研究团队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2735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广州中医药大学 公共卫生管理学院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学术顾问: 马利军 教授(语义心理学)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0" y="4389120"/>
            <a:ext cx="2286000" cy="36576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4480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Humanities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F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411480" cy="41148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77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DF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777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研究背景与核心问题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0515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&amp; RQs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411480" cy="41148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DF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783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系统架构概览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20574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411480" cy="41148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788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DF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788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PSI贝叶斯推断框架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30632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Bayesian PSI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411480" cy="41148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794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DF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794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SikuBERT古籍NLP + IPW偏差校正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40690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&amp; Bias Correction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777240"/>
            <a:ext cx="411480" cy="41148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777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DF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03520" y="777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四朝全周期PSI分析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03520" y="10515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Full-Period PSI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783080"/>
            <a:ext cx="411480" cy="41148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DF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03520" y="1783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IPW校正详细效果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303520" y="20574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IPW Results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788920"/>
            <a:ext cx="411480" cy="41148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2788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DF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03520" y="2788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关键发现与学术贡献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303520" y="30632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794760"/>
            <a:ext cx="411480" cy="41148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3794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DF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03520" y="3794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下一步与致谢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303520" y="40690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研究背景与核心问题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4114800" cy="3931920"/>
          </a:xfrm>
          <a:prstGeom prst="rect">
            <a:avLst>
              <a:gd name="adj" fmla="val 1860"/>
            </a:avLst>
          </a:prstGeom>
          <a:solidFill>
            <a:srgbClr val="669BB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22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历史预测的两难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Cliodynamics(Turchin)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Seshat全球历史数据库, 定量研究历史周期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核心变量: 人口, 能量, 技术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局限: 未深入语义维度, 忽视精英认知信息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传统历史叙事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专家定性判断, 学术价值高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局限: 缺乏可复现性, 无法量化验证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685800"/>
            <a:ext cx="4114800" cy="3931920"/>
          </a:xfrm>
          <a:prstGeom prst="rect">
            <a:avLst>
              <a:gd name="adj" fmla="val 1860"/>
            </a:avLst>
          </a:prstGeom>
          <a:solidFill>
            <a:srgbClr val="003049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822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三个核心研究问题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280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40680" y="12801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小样本推断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40680" y="1554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Bootstrap + Jeffreys先验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Adjusted R²=0.36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95%CI=(0.503, 0.731)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2240280"/>
            <a:ext cx="3749040" cy="9144"/>
          </a:xfrm>
          <a:prstGeom prst="rect">
            <a:avLst/>
          </a:prstGeom>
          <a:solidFill>
            <a:srgbClr val="669BBC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23317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40680" y="23317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古籍语义捕捉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40680" y="26060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SikuBERT双模式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ernie-3.0-mini-zh接入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降级兜底完好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3291840"/>
            <a:ext cx="3749040" cy="9144"/>
          </a:xfrm>
          <a:prstGeom prst="rect">
            <a:avLst/>
          </a:prstGeom>
          <a:solidFill>
            <a:srgbClr val="669BBC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33832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40680" y="33832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跨周期推广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40680" y="36576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唐宋明+北宋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四朝PSI一致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危机区间验证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本系统定位: 语义增强型文明预测, 差异化竞争Turchin定量框架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系统架构概览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554480" cy="1920240"/>
          </a:xfrm>
          <a:prstGeom prst="rect">
            <a:avLst>
              <a:gd name="adj" fmla="val 4706"/>
            </a:avLst>
          </a:prstGeom>
          <a:solidFill>
            <a:srgbClr val="669BB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68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DF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数据采集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CBDB 658,339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条人物记录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11680" y="15087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194560" y="777240"/>
            <a:ext cx="1554480" cy="1920240"/>
          </a:xfrm>
          <a:prstGeom prst="rect">
            <a:avLst>
              <a:gd name="adj" fmla="val 4706"/>
            </a:avLst>
          </a:prstGeom>
          <a:solidFill>
            <a:srgbClr val="780000"/>
          </a:solidFill>
          <a:ln/>
        </p:spPr>
      </p:sp>
      <p:sp>
        <p:nvSpPr>
          <p:cNvPr id="10" name="Text 8"/>
          <p:cNvSpPr/>
          <p:nvPr/>
        </p:nvSpPr>
        <p:spPr>
          <a:xfrm>
            <a:off x="2194560" y="868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DF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94560" y="1143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语义分析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94560" y="16002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SikuBERT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双模式NLP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49040" y="15087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931920" y="777240"/>
            <a:ext cx="1554480" cy="1920240"/>
          </a:xfrm>
          <a:prstGeom prst="rect">
            <a:avLst>
              <a:gd name="adj" fmla="val 4706"/>
            </a:avLst>
          </a:prstGeom>
          <a:solidFill>
            <a:srgbClr val="669BBC"/>
          </a:solidFill>
          <a:ln/>
        </p:spPr>
      </p:sp>
      <p:sp>
        <p:nvSpPr>
          <p:cNvPr id="15" name="Text 13"/>
          <p:cNvSpPr/>
          <p:nvPr/>
        </p:nvSpPr>
        <p:spPr>
          <a:xfrm>
            <a:off x="3931920" y="868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DF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931920" y="1143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地理编码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31920" y="16002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CHGIS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GSI计算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0" y="15087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669280" y="777240"/>
            <a:ext cx="1554480" cy="1920240"/>
          </a:xfrm>
          <a:prstGeom prst="rect">
            <a:avLst>
              <a:gd name="adj" fmla="val 4706"/>
            </a:avLst>
          </a:prstGeom>
          <a:solidFill>
            <a:srgbClr val="78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0" y="868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DF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69280" y="1143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PSI计算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69280" y="16002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贝叶斯+IPW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偏差校正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223760" y="15087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406640" y="777240"/>
            <a:ext cx="1554480" cy="1920240"/>
          </a:xfrm>
          <a:prstGeom prst="rect">
            <a:avLst>
              <a:gd name="adj" fmla="val 4706"/>
            </a:avLst>
          </a:prstGeom>
          <a:solidFill>
            <a:srgbClr val="C1121F"/>
          </a:solidFill>
          <a:ln/>
        </p:spPr>
      </p:sp>
      <p:sp>
        <p:nvSpPr>
          <p:cNvPr id="25" name="Text 23"/>
          <p:cNvSpPr/>
          <p:nvPr/>
        </p:nvSpPr>
        <p:spPr>
          <a:xfrm>
            <a:off x="7406640" y="868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DF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06640" y="1143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输出报告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06640" y="16002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四朝PSI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因果链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2926080"/>
            <a:ext cx="2651760" cy="1828800"/>
          </a:xfrm>
          <a:prstGeom prst="rect">
            <a:avLst>
              <a:gd name="adj" fmla="val 3000"/>
            </a:avLst>
          </a:prstGeom>
          <a:solidFill>
            <a:srgbClr val="669BBC">
              <a:alpha val="5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贝叶斯层次推断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94360" y="3364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Bootstrap 2000次重抽样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360" y="36850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Jeffreys无信息先验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4360" y="4005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SFD权重0.50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4360" y="43251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Hedges' g小样本修正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91840" y="2926080"/>
            <a:ext cx="2651760" cy="1828800"/>
          </a:xfrm>
          <a:prstGeom prst="rect">
            <a:avLst>
              <a:gd name="adj" fmla="val 3000"/>
            </a:avLst>
          </a:prstGeom>
          <a:solidFill>
            <a:srgbClr val="669BBC">
              <a:alpha val="5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342900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SikuBERT双模式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429000" y="3364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ernie-3.0-mini-zh真实模型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429000" y="36850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规则词典降级兜底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429000" y="4005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20个高频概念词典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429000" y="43251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情感方向验证正确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26480" y="2926080"/>
            <a:ext cx="2651760" cy="1828800"/>
          </a:xfrm>
          <a:prstGeom prst="rect">
            <a:avLst>
              <a:gd name="adj" fmla="val 3000"/>
            </a:avLst>
          </a:prstGeom>
          <a:solidFill>
            <a:srgbClr val="669BBC">
              <a:alpha val="5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26364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CBDB IPW偏差校正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263640" y="3364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倾向分模型(sigmoid)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63640" y="36850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逆稳定化权重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263640" y="4005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PSI 0.614-&gt;0.604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63640" y="43251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高偏差样本正确降权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PSI贝叶斯推断框架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4023360" cy="1371600"/>
          </a:xfrm>
          <a:prstGeom prst="rect">
            <a:avLst>
              <a:gd name="adj" fmla="val 4000"/>
            </a:avLst>
          </a:prstGeom>
          <a:solidFill>
            <a:srgbClr val="C1121F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问题诊断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OLS回归对北宋7周期数据R²=0.68, 调整后Adjusted R²仅为0.36, 揭示典型过拟合陷阱: 小样本(n=7, k=3)导致置信区间过窄, 模型解释力被严重高估.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685800"/>
            <a:ext cx="4114800" cy="1371600"/>
          </a:xfrm>
          <a:prstGeom prst="rect">
            <a:avLst>
              <a:gd name="adj" fmla="val 4000"/>
            </a:avLst>
          </a:prstGeom>
          <a:solidFill>
            <a:srgbClr val="780000"/>
          </a:solidFill>
          <a:ln/>
        </p:spPr>
      </p:sp>
      <p:sp>
        <p:nvSpPr>
          <p:cNvPr id="8" name="Text 6"/>
          <p:cNvSpPr/>
          <p:nvPr/>
        </p:nvSpPr>
        <p:spPr>
          <a:xfrm>
            <a:off x="4800600" y="777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0600" y="10515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Bootstrap 2000次重抽样 + Jeffreys无信息先验 + Hedges' g小样本修正 + SFD权重0.50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240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验证结果(北宋7周期)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2011680" cy="347472"/>
          </a:xfrm>
          <a:prstGeom prst="rect">
            <a:avLst/>
          </a:prstGeom>
          <a:solidFill>
            <a:srgbClr val="780000"/>
          </a:solidFill>
          <a:ln w="6350">
            <a:solidFill>
              <a:srgbClr val="669B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56032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F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68880" y="2560320"/>
            <a:ext cx="2011680" cy="347472"/>
          </a:xfrm>
          <a:prstGeom prst="rect">
            <a:avLst/>
          </a:prstGeom>
          <a:solidFill>
            <a:srgbClr val="780000"/>
          </a:solidFill>
          <a:ln w="6350">
            <a:solidFill>
              <a:srgbClr val="669B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42032" y="256032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F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原始值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0" y="2560320"/>
            <a:ext cx="2011680" cy="347472"/>
          </a:xfrm>
          <a:prstGeom prst="rect">
            <a:avLst/>
          </a:prstGeom>
          <a:solidFill>
            <a:srgbClr val="780000"/>
          </a:solidFill>
          <a:ln w="6350">
            <a:solidFill>
              <a:srgbClr val="669BB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53712" y="256032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F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贝叶斯校正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907792"/>
            <a:ext cx="2011680" cy="347472"/>
          </a:xfrm>
          <a:prstGeom prst="rect">
            <a:avLst/>
          </a:prstGeom>
          <a:solidFill>
            <a:srgbClr val="FDF0D5"/>
          </a:solidFill>
          <a:ln w="6350">
            <a:solidFill>
              <a:srgbClr val="669BB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907792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PSI均值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68880" y="2907792"/>
            <a:ext cx="2011680" cy="347472"/>
          </a:xfrm>
          <a:prstGeom prst="rect">
            <a:avLst/>
          </a:prstGeom>
          <a:solidFill>
            <a:srgbClr val="FDF0D5"/>
          </a:solidFill>
          <a:ln w="6350">
            <a:solidFill>
              <a:srgbClr val="669B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42032" y="2907792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0.6309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80560" y="2907792"/>
            <a:ext cx="2011680" cy="347472"/>
          </a:xfrm>
          <a:prstGeom prst="rect">
            <a:avLst/>
          </a:prstGeom>
          <a:solidFill>
            <a:srgbClr val="FDF0D5"/>
          </a:solidFill>
          <a:ln w="6350">
            <a:solidFill>
              <a:srgbClr val="669BB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53712" y="2907792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0.6309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255264"/>
            <a:ext cx="2011680" cy="347472"/>
          </a:xfrm>
          <a:prstGeom prst="rect">
            <a:avLst/>
          </a:prstGeom>
          <a:solidFill>
            <a:srgbClr val="669BBC"/>
          </a:solidFill>
          <a:ln w="6350">
            <a:solidFill>
              <a:srgbClr val="669BB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255264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PSI标准差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468880" y="3255264"/>
            <a:ext cx="2011680" cy="347472"/>
          </a:xfrm>
          <a:prstGeom prst="rect">
            <a:avLst/>
          </a:prstGeom>
          <a:solidFill>
            <a:srgbClr val="669BBC"/>
          </a:solidFill>
          <a:ln w="6350">
            <a:solidFill>
              <a:srgbClr val="669BB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42032" y="3255264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未报告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480560" y="3255264"/>
            <a:ext cx="2011680" cy="347472"/>
          </a:xfrm>
          <a:prstGeom prst="rect">
            <a:avLst/>
          </a:prstGeom>
          <a:solidFill>
            <a:srgbClr val="669BBC"/>
          </a:solidFill>
          <a:ln w="6350">
            <a:solidFill>
              <a:srgbClr val="669BB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53712" y="3255264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0.0584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602736"/>
            <a:ext cx="2011680" cy="347472"/>
          </a:xfrm>
          <a:prstGeom prst="rect">
            <a:avLst/>
          </a:prstGeom>
          <a:solidFill>
            <a:srgbClr val="FDF0D5"/>
          </a:solidFill>
          <a:ln w="6350">
            <a:solidFill>
              <a:srgbClr val="669BB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3602736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95%CI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468880" y="3602736"/>
            <a:ext cx="2011680" cy="347472"/>
          </a:xfrm>
          <a:prstGeom prst="rect">
            <a:avLst/>
          </a:prstGeom>
          <a:solidFill>
            <a:srgbClr val="FDF0D5"/>
          </a:solidFill>
          <a:ln w="6350">
            <a:solidFill>
              <a:srgbClr val="669BB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42032" y="3602736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未报告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480560" y="3602736"/>
            <a:ext cx="2011680" cy="347472"/>
          </a:xfrm>
          <a:prstGeom prst="rect">
            <a:avLst/>
          </a:prstGeom>
          <a:solidFill>
            <a:srgbClr val="FDF0D5"/>
          </a:solidFill>
          <a:ln w="6350">
            <a:solidFill>
              <a:srgbClr val="669BB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53712" y="3602736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(0.503, 0.731)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950208"/>
            <a:ext cx="2011680" cy="347472"/>
          </a:xfrm>
          <a:prstGeom prst="rect">
            <a:avLst/>
          </a:prstGeom>
          <a:solidFill>
            <a:srgbClr val="669BBC"/>
          </a:solidFill>
          <a:ln w="6350">
            <a:solidFill>
              <a:srgbClr val="669BB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" y="3950208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Adjusted R²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468880" y="3950208"/>
            <a:ext cx="2011680" cy="347472"/>
          </a:xfrm>
          <a:prstGeom prst="rect">
            <a:avLst/>
          </a:prstGeom>
          <a:solidFill>
            <a:srgbClr val="669BBC"/>
          </a:solidFill>
          <a:ln w="6350">
            <a:solidFill>
              <a:srgbClr val="669BB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42032" y="3950208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0.36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480560" y="3950208"/>
            <a:ext cx="2011680" cy="347472"/>
          </a:xfrm>
          <a:prstGeom prst="rect">
            <a:avLst/>
          </a:prstGeom>
          <a:solidFill>
            <a:srgbClr val="669BBC"/>
          </a:solidFill>
          <a:ln w="6350">
            <a:solidFill>
              <a:srgbClr val="669BB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53712" y="3950208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0.36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583680" y="2560320"/>
            <a:ext cx="2194560" cy="1737360"/>
          </a:xfrm>
          <a:prstGeom prst="rect">
            <a:avLst>
              <a:gd name="adj" fmla="val 3158"/>
            </a:avLst>
          </a:prstGeom>
          <a:solidFill>
            <a:srgbClr val="003049"/>
          </a:solidFill>
          <a:ln/>
        </p:spPr>
      </p:sp>
      <p:sp>
        <p:nvSpPr>
          <p:cNvPr id="42" name="Text 40"/>
          <p:cNvSpPr/>
          <p:nvPr/>
        </p:nvSpPr>
        <p:spPr>
          <a:xfrm>
            <a:off x="6720840" y="2670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720840" y="297180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SFD权重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从0.33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提升至0.50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SikuBERT古籍NLP + IPW偏差校正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4023360" cy="3840480"/>
          </a:xfrm>
          <a:prstGeom prst="rect">
            <a:avLst>
              <a:gd name="adj" fmla="val 1905"/>
            </a:avLst>
          </a:prstGeom>
          <a:solidFill>
            <a:srgbClr val="669BB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8046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SikuBERT 双模式古籍NLP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828800" cy="384048"/>
          </a:xfrm>
          <a:prstGeom prst="rect">
            <a:avLst>
              <a:gd name="adj" fmla="val 11905"/>
            </a:avLst>
          </a:prstGeom>
          <a:solidFill>
            <a:srgbClr val="78000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344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DF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ernie-3.0-mini-zh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331720" y="1234440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06040" y="1234440"/>
            <a:ext cx="1645920" cy="384048"/>
          </a:xfrm>
          <a:prstGeom prst="rect">
            <a:avLst>
              <a:gd name="adj" fmla="val 11905"/>
            </a:avLst>
          </a:prstGeom>
          <a:solidFill>
            <a:srgbClr val="C1121F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123444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规则词典兜底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783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验证结果(降级模式)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084832"/>
            <a:ext cx="3749040" cy="457200"/>
          </a:xfrm>
          <a:prstGeom prst="rect">
            <a:avLst>
              <a:gd name="adj" fmla="val 8000"/>
            </a:avLst>
          </a:prstGeom>
          <a:solidFill>
            <a:srgbClr val="FDF0D5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08483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+0.512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20848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嘉祐之治, 天下太平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03320" y="2084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2633472"/>
            <a:ext cx="3749040" cy="457200"/>
          </a:xfrm>
          <a:prstGeom prst="rect">
            <a:avLst>
              <a:gd name="adj" fmla="val 8000"/>
            </a:avLst>
          </a:prstGeom>
          <a:solidFill>
            <a:srgbClr val="FDF0D5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6334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-0.850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26334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百年积弊, 民不聊生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03320" y="2633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3182112"/>
            <a:ext cx="3749040" cy="457200"/>
          </a:xfrm>
          <a:prstGeom prst="rect">
            <a:avLst>
              <a:gd name="adj" fmla="val 8000"/>
            </a:avLst>
          </a:prstGeom>
          <a:solidFill>
            <a:srgbClr val="FDF0D5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18211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+0.375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31821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天下太平, 百姓安乐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03320" y="3182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3730752"/>
            <a:ext cx="3749040" cy="457200"/>
          </a:xfrm>
          <a:prstGeom prst="rect">
            <a:avLst>
              <a:gd name="adj" fmla="val 8000"/>
            </a:avLst>
          </a:prstGeom>
          <a:solidFill>
            <a:srgbClr val="FDF0D5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73075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-0.900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71600" y="37307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民不聊生, 饿殍遍野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703320" y="3730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" y="42519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pip install transformers 后自动激活真实模型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685800"/>
            <a:ext cx="4114800" cy="3840480"/>
          </a:xfrm>
          <a:prstGeom prst="rect">
            <a:avLst>
              <a:gd name="adj" fmla="val 1905"/>
            </a:avLst>
          </a:prstGeom>
          <a:solidFill>
            <a:srgbClr val="78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8046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CBDB IPW 逆概率加权偏差校正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00600" y="12344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倾向分模型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0600" y="14813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propensity = sigmoid(0.3 + rank_bonus + north_bonus + school_bonus)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00600" y="1828800"/>
            <a:ext cx="3840480" cy="457200"/>
          </a:xfrm>
          <a:prstGeom prst="rect">
            <a:avLst>
              <a:gd name="adj" fmla="val 8000"/>
            </a:avLst>
          </a:prstGeom>
          <a:solidFill>
            <a:srgbClr val="FDF0D5">
              <a:alpha val="1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92040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高品级(三品+)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03720" y="1828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+0.50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498080" y="1828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传记记载更完整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00600" y="2359152"/>
            <a:ext cx="3840480" cy="457200"/>
          </a:xfrm>
          <a:prstGeom prst="rect">
            <a:avLst>
              <a:gd name="adj" fmla="val 8000"/>
            </a:avLst>
          </a:prstGeom>
          <a:solidFill>
            <a:srgbClr val="FDF0D5">
              <a:alpha val="1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23591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北方籍贯(&gt;=34N)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03720" y="235915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+0.40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498080" y="23591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政治中心在北方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00600" y="2889504"/>
            <a:ext cx="3840480" cy="457200"/>
          </a:xfrm>
          <a:prstGeom prst="rect">
            <a:avLst>
              <a:gd name="adj" fmla="val 8000"/>
            </a:avLst>
          </a:prstGeom>
          <a:solidFill>
            <a:srgbClr val="FDF0D5">
              <a:alpha val="15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892040" y="288950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主流学派(儒家)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903720" y="288950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+0.30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498080" y="288950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话语权更大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00600" y="3520440"/>
            <a:ext cx="3840480" cy="777240"/>
          </a:xfrm>
          <a:prstGeom prst="rect">
            <a:avLst>
              <a:gd name="adj" fmla="val 7059"/>
            </a:avLst>
          </a:prstGeom>
          <a:solidFill>
            <a:srgbClr val="C1121F"/>
          </a:solidFill>
          <a:ln/>
        </p:spPr>
      </p:sp>
      <p:sp>
        <p:nvSpPr>
          <p:cNvPr id="46" name="Text 44"/>
          <p:cNvSpPr/>
          <p:nvPr/>
        </p:nvSpPr>
        <p:spPr>
          <a:xfrm>
            <a:off x="4937760" y="3611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校正结论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937760" y="3858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DF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PSI 0.614 &gt; 0.604 下降 1.6%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四朝全周期PSI分析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4023360"/>
            <a:ext cx="5669280" cy="9144"/>
          </a:xfrm>
          <a:prstGeom prst="rect">
            <a:avLst/>
          </a:prstGeom>
          <a:solidFill>
            <a:srgbClr val="669BBC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39319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3474720"/>
            <a:ext cx="5669280" cy="9144"/>
          </a:xfrm>
          <a:prstGeom prst="rect">
            <a:avLst/>
          </a:prstGeom>
          <a:solidFill>
            <a:srgbClr val="669BBC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338328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2926080"/>
            <a:ext cx="5669280" cy="9144"/>
          </a:xfrm>
          <a:prstGeom prst="rect">
            <a:avLst/>
          </a:prstGeom>
          <a:solidFill>
            <a:srgbClr val="669BBC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28346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31520" y="2377440"/>
            <a:ext cx="5669280" cy="9144"/>
          </a:xfrm>
          <a:prstGeom prst="rect">
            <a:avLst/>
          </a:prstGeom>
          <a:solidFill>
            <a:srgbClr val="669BBC">
              <a:alpha val="3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2860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31520" y="1828800"/>
            <a:ext cx="5669280" cy="9144"/>
          </a:xfrm>
          <a:prstGeom prst="rect">
            <a:avLst/>
          </a:prstGeom>
          <a:solidFill>
            <a:srgbClr val="669BBC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173736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914400" y="2229307"/>
            <a:ext cx="457200" cy="1794053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000707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0.327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" y="40690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42702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618-907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103120" y="2322576"/>
            <a:ext cx="457200" cy="170078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0" name="Text 18"/>
          <p:cNvSpPr/>
          <p:nvPr/>
        </p:nvSpPr>
        <p:spPr>
          <a:xfrm>
            <a:off x="2011680" y="209397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0.310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11680" y="40690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N.Song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920240" y="42702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960-1127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91840" y="2404872"/>
            <a:ext cx="457200" cy="1618488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0" y="21762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0.295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00400" y="40690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S.Song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108960" y="42702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1127-1279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480560" y="2673706"/>
            <a:ext cx="457200" cy="134965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8" name="Text 26"/>
          <p:cNvSpPr/>
          <p:nvPr/>
        </p:nvSpPr>
        <p:spPr>
          <a:xfrm>
            <a:off x="4389120" y="244510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0.246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389120" y="40690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297680" y="42702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1368-1644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31520" y="4480560"/>
            <a:ext cx="5669280" cy="9144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685800"/>
            <a:ext cx="2011680" cy="4069080"/>
          </a:xfrm>
          <a:prstGeom prst="rect">
            <a:avLst>
              <a:gd name="adj" fmla="val 2727"/>
            </a:avLst>
          </a:prstGeom>
          <a:solidFill>
            <a:srgbClr val="669BBC"/>
          </a:solidFill>
          <a:ln/>
        </p:spPr>
      </p:sp>
      <p:sp>
        <p:nvSpPr>
          <p:cNvPr id="33" name="Text 31"/>
          <p:cNvSpPr/>
          <p:nvPr/>
        </p:nvSpPr>
        <p:spPr>
          <a:xfrm>
            <a:off x="6949440" y="777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PSI校正值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49440" y="1097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49440" y="12984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0.327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863840" y="12984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GSI 1.733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49440" y="14813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experts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949440" y="1682496"/>
            <a:ext cx="1828800" cy="9144"/>
          </a:xfrm>
          <a:prstGeom prst="rect">
            <a:avLst/>
          </a:prstGeom>
          <a:solidFill>
            <a:srgbClr val="669BBC">
              <a:alpha val="4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949440" y="1737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N.Song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49440" y="1938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0.310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863840" y="1938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GSI 1.683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949440" y="21214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experts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949440" y="2322576"/>
            <a:ext cx="1828800" cy="9144"/>
          </a:xfrm>
          <a:prstGeom prst="rect">
            <a:avLst/>
          </a:prstGeom>
          <a:solidFill>
            <a:srgbClr val="669BBC">
              <a:alpha val="4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949440" y="2377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S.Song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949440" y="2578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0.295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863840" y="2578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GSI 1.755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949440" y="27614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experts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949440" y="2962656"/>
            <a:ext cx="1828800" cy="9144"/>
          </a:xfrm>
          <a:prstGeom prst="rect">
            <a:avLst/>
          </a:prstGeom>
          <a:solidFill>
            <a:srgbClr val="669BBC">
              <a:alpha val="4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6949440" y="3017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8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Ming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949440" y="32186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0.246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7863840" y="32186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GSI 1.683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949440" y="34015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experts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858000" y="3749040"/>
            <a:ext cx="2011680" cy="914400"/>
          </a:xfrm>
          <a:prstGeom prst="rect">
            <a:avLst>
              <a:gd name="adj" fmla="val 6000"/>
            </a:avLst>
          </a:prstGeom>
          <a:solidFill>
            <a:srgbClr val="780000"/>
          </a:solidFill>
          <a:ln/>
        </p:spPr>
      </p:sp>
      <p:sp>
        <p:nvSpPr>
          <p:cNvPr id="54" name="Text 52"/>
          <p:cNvSpPr/>
          <p:nvPr/>
        </p:nvSpPr>
        <p:spPr>
          <a:xfrm>
            <a:off x="694944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CRISIS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949440" y="41330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四朝一致落在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危机区间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IPW偏差校正详细效果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188720" cy="347472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5836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554480" y="658368"/>
            <a:ext cx="1005840" cy="347472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65836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PSI原始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658368"/>
            <a:ext cx="914400" cy="347472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65836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倾向分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658368"/>
            <a:ext cx="914400" cy="347472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65836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逆权重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0" y="658368"/>
            <a:ext cx="1188720" cy="347472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65836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校正后PSI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77840" y="658368"/>
            <a:ext cx="1097280" cy="347472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5577840" y="65836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75120" y="658368"/>
            <a:ext cx="2103120" cy="347472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65836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偏差类型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1005840"/>
            <a:ext cx="1188720" cy="566928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100584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司马光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554480" y="1005840"/>
            <a:ext cx="1005840" cy="566928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21" name="Text 19"/>
          <p:cNvSpPr/>
          <p:nvPr/>
        </p:nvSpPr>
        <p:spPr>
          <a:xfrm>
            <a:off x="1554480" y="100584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0.800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60320" y="1005840"/>
            <a:ext cx="914400" cy="566928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23" name="Text 21"/>
          <p:cNvSpPr/>
          <p:nvPr/>
        </p:nvSpPr>
        <p:spPr>
          <a:xfrm>
            <a:off x="2560320" y="100584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0.731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74720" y="1005840"/>
            <a:ext cx="914400" cy="566928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0" y="100584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1.368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89120" y="1005840"/>
            <a:ext cx="1188720" cy="566928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27" name="Text 25"/>
          <p:cNvSpPr/>
          <p:nvPr/>
        </p:nvSpPr>
        <p:spPr>
          <a:xfrm>
            <a:off x="4389120" y="100584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0.742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577840" y="1115568"/>
            <a:ext cx="1097280" cy="347472"/>
          </a:xfrm>
          <a:prstGeom prst="rect">
            <a:avLst>
              <a:gd name="adj" fmla="val 10526"/>
            </a:avLst>
          </a:prstGeom>
          <a:solidFill>
            <a:srgbClr val="F87171"/>
          </a:solidFill>
          <a:ln/>
        </p:spPr>
      </p:sp>
      <p:sp>
        <p:nvSpPr>
          <p:cNvPr id="29" name="Text 27"/>
          <p:cNvSpPr/>
          <p:nvPr/>
        </p:nvSpPr>
        <p:spPr>
          <a:xfrm>
            <a:off x="5577840" y="111556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DF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75120" y="1005840"/>
            <a:ext cx="2103120" cy="566928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31" name="Text 29"/>
          <p:cNvSpPr/>
          <p:nvPr/>
        </p:nvSpPr>
        <p:spPr>
          <a:xfrm>
            <a:off x="6766560" y="10058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高偏差(北方+高品级+主流)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1572768"/>
            <a:ext cx="8412480" cy="18288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33" name="Shape 31"/>
          <p:cNvSpPr/>
          <p:nvPr/>
        </p:nvSpPr>
        <p:spPr>
          <a:xfrm>
            <a:off x="365760" y="1627632"/>
            <a:ext cx="1188720" cy="566928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1627632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范仲淹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554480" y="1627632"/>
            <a:ext cx="1005840" cy="566928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36" name="Text 34"/>
          <p:cNvSpPr/>
          <p:nvPr/>
        </p:nvSpPr>
        <p:spPr>
          <a:xfrm>
            <a:off x="1554480" y="1627632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0.720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560320" y="1627632"/>
            <a:ext cx="914400" cy="566928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38" name="Text 36"/>
          <p:cNvSpPr/>
          <p:nvPr/>
        </p:nvSpPr>
        <p:spPr>
          <a:xfrm>
            <a:off x="2560320" y="1627632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0.646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474720" y="1627632"/>
            <a:ext cx="914400" cy="566928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40" name="Text 38"/>
          <p:cNvSpPr/>
          <p:nvPr/>
        </p:nvSpPr>
        <p:spPr>
          <a:xfrm>
            <a:off x="3474720" y="1627632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1.549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389120" y="1627632"/>
            <a:ext cx="1188720" cy="566928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42" name="Text 40"/>
          <p:cNvSpPr/>
          <p:nvPr/>
        </p:nvSpPr>
        <p:spPr>
          <a:xfrm>
            <a:off x="4389120" y="1627632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0.756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577840" y="1737360"/>
            <a:ext cx="1097280" cy="347472"/>
          </a:xfrm>
          <a:prstGeom prst="rect">
            <a:avLst>
              <a:gd name="adj" fmla="val 10526"/>
            </a:avLst>
          </a:prstGeom>
          <a:solidFill>
            <a:srgbClr val="F87171"/>
          </a:solidFill>
          <a:ln/>
        </p:spPr>
      </p:sp>
      <p:sp>
        <p:nvSpPr>
          <p:cNvPr id="44" name="Text 42"/>
          <p:cNvSpPr/>
          <p:nvPr/>
        </p:nvSpPr>
        <p:spPr>
          <a:xfrm>
            <a:off x="5577840" y="17373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DF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675120" y="1627632"/>
            <a:ext cx="2103120" cy="566928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46" name="Text 44"/>
          <p:cNvSpPr/>
          <p:nvPr/>
        </p:nvSpPr>
        <p:spPr>
          <a:xfrm>
            <a:off x="6766560" y="162763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高偏差(北方+高品级+主流)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65760" y="2194560"/>
            <a:ext cx="8412480" cy="18288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48" name="Shape 46"/>
          <p:cNvSpPr/>
          <p:nvPr/>
        </p:nvSpPr>
        <p:spPr>
          <a:xfrm>
            <a:off x="365760" y="2249424"/>
            <a:ext cx="1188720" cy="566928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49" name="Text 47"/>
          <p:cNvSpPr/>
          <p:nvPr/>
        </p:nvSpPr>
        <p:spPr>
          <a:xfrm>
            <a:off x="365760" y="2249424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欧阳修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554480" y="2249424"/>
            <a:ext cx="1005840" cy="566928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51" name="Text 49"/>
          <p:cNvSpPr/>
          <p:nvPr/>
        </p:nvSpPr>
        <p:spPr>
          <a:xfrm>
            <a:off x="1554480" y="2249424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0.650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2560320" y="2249424"/>
            <a:ext cx="914400" cy="566928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53" name="Text 51"/>
          <p:cNvSpPr/>
          <p:nvPr/>
        </p:nvSpPr>
        <p:spPr>
          <a:xfrm>
            <a:off x="2560320" y="2249424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0.750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474720" y="2249424"/>
            <a:ext cx="914400" cy="566928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55" name="Text 53"/>
          <p:cNvSpPr/>
          <p:nvPr/>
        </p:nvSpPr>
        <p:spPr>
          <a:xfrm>
            <a:off x="3474720" y="2249424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1.333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389120" y="2249424"/>
            <a:ext cx="1188720" cy="566928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57" name="Text 55"/>
          <p:cNvSpPr/>
          <p:nvPr/>
        </p:nvSpPr>
        <p:spPr>
          <a:xfrm>
            <a:off x="4389120" y="2249424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0.588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5577840" y="2359152"/>
            <a:ext cx="1097280" cy="347472"/>
          </a:xfrm>
          <a:prstGeom prst="rect">
            <a:avLst>
              <a:gd name="adj" fmla="val 10526"/>
            </a:avLst>
          </a:prstGeom>
          <a:solidFill>
            <a:srgbClr val="669BBC"/>
          </a:solidFill>
          <a:ln/>
        </p:spPr>
      </p:sp>
      <p:sp>
        <p:nvSpPr>
          <p:cNvPr id="59" name="Text 57"/>
          <p:cNvSpPr/>
          <p:nvPr/>
        </p:nvSpPr>
        <p:spPr>
          <a:xfrm>
            <a:off x="5577840" y="235915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675120" y="2249424"/>
            <a:ext cx="2103120" cy="566928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61" name="Text 59"/>
          <p:cNvSpPr/>
          <p:nvPr/>
        </p:nvSpPr>
        <p:spPr>
          <a:xfrm>
            <a:off x="6766560" y="224942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中等偏差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365760" y="2816352"/>
            <a:ext cx="8412480" cy="18288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63" name="Shape 61"/>
          <p:cNvSpPr/>
          <p:nvPr/>
        </p:nvSpPr>
        <p:spPr>
          <a:xfrm>
            <a:off x="365760" y="2871216"/>
            <a:ext cx="1188720" cy="566928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64" name="Text 62"/>
          <p:cNvSpPr/>
          <p:nvPr/>
        </p:nvSpPr>
        <p:spPr>
          <a:xfrm>
            <a:off x="365760" y="2871216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王安石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1554480" y="2871216"/>
            <a:ext cx="1005840" cy="566928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66" name="Text 64"/>
          <p:cNvSpPr/>
          <p:nvPr/>
        </p:nvSpPr>
        <p:spPr>
          <a:xfrm>
            <a:off x="1554480" y="2871216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0.400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2560320" y="2871216"/>
            <a:ext cx="914400" cy="566928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68" name="Text 66"/>
          <p:cNvSpPr/>
          <p:nvPr/>
        </p:nvSpPr>
        <p:spPr>
          <a:xfrm>
            <a:off x="2560320" y="2871216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0.574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3474720" y="2871216"/>
            <a:ext cx="914400" cy="566928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70" name="Text 68"/>
          <p:cNvSpPr/>
          <p:nvPr/>
        </p:nvSpPr>
        <p:spPr>
          <a:xfrm>
            <a:off x="3474720" y="2871216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1.741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4389120" y="2871216"/>
            <a:ext cx="1188720" cy="566928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72" name="Text 70"/>
          <p:cNvSpPr/>
          <p:nvPr/>
        </p:nvSpPr>
        <p:spPr>
          <a:xfrm>
            <a:off x="4389120" y="2871216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0.473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5577840" y="2980944"/>
            <a:ext cx="1097280" cy="347472"/>
          </a:xfrm>
          <a:prstGeom prst="rect">
            <a:avLst>
              <a:gd name="adj" fmla="val 10526"/>
            </a:avLst>
          </a:prstGeom>
          <a:solidFill>
            <a:srgbClr val="34D399"/>
          </a:solidFill>
          <a:ln/>
        </p:spPr>
      </p:sp>
      <p:sp>
        <p:nvSpPr>
          <p:cNvPr id="74" name="Text 72"/>
          <p:cNvSpPr/>
          <p:nvPr/>
        </p:nvSpPr>
        <p:spPr>
          <a:xfrm>
            <a:off x="5577840" y="298094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DF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675120" y="2871216"/>
            <a:ext cx="2103120" cy="566928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76" name="Text 74"/>
          <p:cNvSpPr/>
          <p:nvPr/>
        </p:nvSpPr>
        <p:spPr>
          <a:xfrm>
            <a:off x="6766560" y="287121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低偏差(南方+新学+低品级)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365760" y="3438144"/>
            <a:ext cx="8412480" cy="18288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78" name="Shape 76"/>
          <p:cNvSpPr/>
          <p:nvPr/>
        </p:nvSpPr>
        <p:spPr>
          <a:xfrm>
            <a:off x="365760" y="3493008"/>
            <a:ext cx="1188720" cy="566928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79" name="Text 77"/>
          <p:cNvSpPr/>
          <p:nvPr/>
        </p:nvSpPr>
        <p:spPr>
          <a:xfrm>
            <a:off x="365760" y="3493008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苏轼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1554480" y="3493008"/>
            <a:ext cx="1005840" cy="566928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81" name="Text 79"/>
          <p:cNvSpPr/>
          <p:nvPr/>
        </p:nvSpPr>
        <p:spPr>
          <a:xfrm>
            <a:off x="1554480" y="3493008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0.500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2560320" y="3493008"/>
            <a:ext cx="914400" cy="566928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83" name="Text 81"/>
          <p:cNvSpPr/>
          <p:nvPr/>
        </p:nvSpPr>
        <p:spPr>
          <a:xfrm>
            <a:off x="2560320" y="3493008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0.690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3474720" y="3493008"/>
            <a:ext cx="914400" cy="566928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85" name="Text 83"/>
          <p:cNvSpPr/>
          <p:nvPr/>
        </p:nvSpPr>
        <p:spPr>
          <a:xfrm>
            <a:off x="3474720" y="3493008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1.449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4389120" y="3493008"/>
            <a:ext cx="1188720" cy="566928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87" name="Text 85"/>
          <p:cNvSpPr/>
          <p:nvPr/>
        </p:nvSpPr>
        <p:spPr>
          <a:xfrm>
            <a:off x="4389120" y="3493008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0.492</a:t>
            </a:r>
            <a:endParaRPr lang="en-US" sz="1300" dirty="0"/>
          </a:p>
        </p:txBody>
      </p:sp>
      <p:sp>
        <p:nvSpPr>
          <p:cNvPr id="88" name="Shape 86"/>
          <p:cNvSpPr/>
          <p:nvPr/>
        </p:nvSpPr>
        <p:spPr>
          <a:xfrm>
            <a:off x="5577840" y="3602736"/>
            <a:ext cx="1097280" cy="347472"/>
          </a:xfrm>
          <a:prstGeom prst="rect">
            <a:avLst>
              <a:gd name="adj" fmla="val 10526"/>
            </a:avLst>
          </a:prstGeom>
          <a:solidFill>
            <a:srgbClr val="34D399"/>
          </a:solidFill>
          <a:ln/>
        </p:spPr>
      </p:sp>
      <p:sp>
        <p:nvSpPr>
          <p:cNvPr id="89" name="Text 87"/>
          <p:cNvSpPr/>
          <p:nvPr/>
        </p:nvSpPr>
        <p:spPr>
          <a:xfrm>
            <a:off x="5577840" y="360273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DF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6675120" y="3493008"/>
            <a:ext cx="2103120" cy="566928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91" name="Text 89"/>
          <p:cNvSpPr/>
          <p:nvPr/>
        </p:nvSpPr>
        <p:spPr>
          <a:xfrm>
            <a:off x="6766560" y="349300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低偏差(南方+新学+低品级)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365760" y="4059936"/>
            <a:ext cx="8412480" cy="18288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93" name="Shape 91"/>
          <p:cNvSpPr/>
          <p:nvPr/>
        </p:nvSpPr>
        <p:spPr>
          <a:xfrm>
            <a:off x="365760" y="4297680"/>
            <a:ext cx="5852160" cy="640080"/>
          </a:xfrm>
          <a:prstGeom prst="rect">
            <a:avLst>
              <a:gd name="adj" fmla="val 8571"/>
            </a:avLst>
          </a:prstGeom>
          <a:solidFill>
            <a:srgbClr val="780000"/>
          </a:solidFill>
          <a:ln/>
        </p:spPr>
      </p:sp>
      <p:sp>
        <p:nvSpPr>
          <p:cNvPr id="94" name="Text 92"/>
          <p:cNvSpPr/>
          <p:nvPr/>
        </p:nvSpPr>
        <p:spPr>
          <a:xfrm>
            <a:off x="502920" y="43708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加权平均 PSI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502920" y="4572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0.614 &gt; 0.604</a:t>
            </a:r>
            <a:endParaRPr lang="en-US" sz="2000" dirty="0"/>
          </a:p>
        </p:txBody>
      </p:sp>
      <p:sp>
        <p:nvSpPr>
          <p:cNvPr id="96" name="Text 94"/>
          <p:cNvSpPr/>
          <p:nvPr/>
        </p:nvSpPr>
        <p:spPr>
          <a:xfrm>
            <a:off x="3291840" y="4572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F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下降 1.6% 验证通过</a:t>
            </a:r>
            <a:endParaRPr lang="en-US" sz="1400" dirty="0"/>
          </a:p>
        </p:txBody>
      </p:sp>
      <p:sp>
        <p:nvSpPr>
          <p:cNvPr id="97" name="Text 95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关键发现与学术贡献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2743200" cy="2560320"/>
          </a:xfrm>
          <a:prstGeom prst="rect">
            <a:avLst>
              <a:gd name="adj" fmla="val 2857"/>
            </a:avLst>
          </a:prstGeom>
          <a:solidFill>
            <a:srgbClr val="669BBC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822960"/>
            <a:ext cx="411480" cy="41148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22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DF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四朝PSI危机区间一致性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唐宋明+北宋四朝PSI校正值一致落在0.24-0.33区间, 初步验证了PSI跨朝代可推广性, 支持SDT理论核心假设.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685800"/>
            <a:ext cx="2743200" cy="2560320"/>
          </a:xfrm>
          <a:prstGeom prst="rect">
            <a:avLst>
              <a:gd name="adj" fmla="val 2857"/>
            </a:avLst>
          </a:prstGeom>
          <a:solidFill>
            <a:srgbClr val="669BBC"/>
          </a:solidFill>
          <a:ln/>
        </p:spPr>
      </p:sp>
      <p:sp>
        <p:nvSpPr>
          <p:cNvPr id="10" name="Shape 8"/>
          <p:cNvSpPr/>
          <p:nvPr/>
        </p:nvSpPr>
        <p:spPr>
          <a:xfrm>
            <a:off x="3383280" y="822960"/>
            <a:ext cx="411480" cy="41148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822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DF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0" y="13258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IPW有效识别CBDB偏差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8288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高选择偏差样本(北方+高品级+主流学派)被正确降权, PSI下降1.6%, CBDB偏差首次被量化校正.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685800"/>
            <a:ext cx="2743200" cy="2560320"/>
          </a:xfrm>
          <a:prstGeom prst="rect">
            <a:avLst>
              <a:gd name="adj" fmla="val 2857"/>
            </a:avLst>
          </a:prstGeom>
          <a:solidFill>
            <a:srgbClr val="669BBC"/>
          </a:solidFill>
          <a:ln/>
        </p:spPr>
      </p:sp>
      <p:sp>
        <p:nvSpPr>
          <p:cNvPr id="15" name="Shape 13"/>
          <p:cNvSpPr/>
          <p:nvPr/>
        </p:nvSpPr>
        <p:spPr>
          <a:xfrm>
            <a:off x="6263640" y="822960"/>
            <a:ext cx="411480" cy="41148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822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DF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63640" y="13258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贝叶斯框架解决小样本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18288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Bootstrap 2000次重抽样 + Jeffreys先验, Adjusted R²=0.36揭示原始高估, 95%CI=(0.503, 0.731).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429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与Cliodynamics差异对比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1371600" cy="256032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7490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651760" y="3749040"/>
            <a:ext cx="2743200" cy="256032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2697480" y="37490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DF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Turchin / Seshat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937760" y="3749040"/>
            <a:ext cx="2743200" cy="256032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37490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DF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Civilization-Oracle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4005072"/>
            <a:ext cx="1371600" cy="256032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400507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核心驱动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651760" y="4005072"/>
            <a:ext cx="2743200" cy="256032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29" name="Text 27"/>
          <p:cNvSpPr/>
          <p:nvPr/>
        </p:nvSpPr>
        <p:spPr>
          <a:xfrm>
            <a:off x="2697480" y="400507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人口经济学(BA)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937760" y="4005072"/>
            <a:ext cx="2743200" cy="256032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31" name="Text 29"/>
          <p:cNvSpPr/>
          <p:nvPr/>
        </p:nvSpPr>
        <p:spPr>
          <a:xfrm>
            <a:off x="4983480" y="400507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语义心理学(SDT/PSI)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4261104"/>
            <a:ext cx="1371600" cy="256032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33" name="Text 31"/>
          <p:cNvSpPr/>
          <p:nvPr/>
        </p:nvSpPr>
        <p:spPr>
          <a:xfrm>
            <a:off x="411480" y="426110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651760" y="4261104"/>
            <a:ext cx="2743200" cy="256032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35" name="Text 33"/>
          <p:cNvSpPr/>
          <p:nvPr/>
        </p:nvSpPr>
        <p:spPr>
          <a:xfrm>
            <a:off x="2697480" y="426110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OLS回归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937760" y="4261104"/>
            <a:ext cx="2743200" cy="256032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37" name="Text 35"/>
          <p:cNvSpPr/>
          <p:nvPr/>
        </p:nvSpPr>
        <p:spPr>
          <a:xfrm>
            <a:off x="4983480" y="426110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贝叶斯+IPW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4517136"/>
            <a:ext cx="1371600" cy="256032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39" name="Text 37"/>
          <p:cNvSpPr/>
          <p:nvPr/>
        </p:nvSpPr>
        <p:spPr>
          <a:xfrm>
            <a:off x="411480" y="451713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偏差校正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651760" y="4517136"/>
            <a:ext cx="2743200" cy="256032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41" name="Text 39"/>
          <p:cNvSpPr/>
          <p:nvPr/>
        </p:nvSpPr>
        <p:spPr>
          <a:xfrm>
            <a:off x="2697480" y="451713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937760" y="4517136"/>
            <a:ext cx="2743200" cy="256032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43" name="Text 41"/>
          <p:cNvSpPr/>
          <p:nvPr/>
        </p:nvSpPr>
        <p:spPr>
          <a:xfrm>
            <a:off x="4983480" y="451713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IPW逆概率加权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5760" y="4773168"/>
            <a:ext cx="1371600" cy="256032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45" name="Text 43"/>
          <p:cNvSpPr/>
          <p:nvPr/>
        </p:nvSpPr>
        <p:spPr>
          <a:xfrm>
            <a:off x="411480" y="47731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语义深度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651760" y="4773168"/>
            <a:ext cx="2743200" cy="256032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47" name="Text 45"/>
          <p:cNvSpPr/>
          <p:nvPr/>
        </p:nvSpPr>
        <p:spPr>
          <a:xfrm>
            <a:off x="2697480" y="477316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937760" y="4773168"/>
            <a:ext cx="2743200" cy="256032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49" name="Text 47"/>
          <p:cNvSpPr/>
          <p:nvPr/>
        </p:nvSpPr>
        <p:spPr>
          <a:xfrm>
            <a:off x="4983480" y="477316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SikuBERT+CPM-KB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65760" y="5029200"/>
            <a:ext cx="1371600" cy="256032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51" name="Text 49"/>
          <p:cNvSpPr/>
          <p:nvPr/>
        </p:nvSpPr>
        <p:spPr>
          <a:xfrm>
            <a:off x="411480" y="50292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中国数据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651760" y="5029200"/>
            <a:ext cx="2743200" cy="256032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53" name="Text 51"/>
          <p:cNvSpPr/>
          <p:nvPr/>
        </p:nvSpPr>
        <p:spPr>
          <a:xfrm>
            <a:off x="2697480" y="502920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有限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937760" y="5029200"/>
            <a:ext cx="2743200" cy="256032"/>
          </a:xfrm>
          <a:prstGeom prst="rect">
            <a:avLst/>
          </a:prstGeom>
          <a:solidFill>
            <a:srgbClr val="FDF0D5"/>
          </a:solidFill>
          <a:ln/>
        </p:spPr>
      </p:sp>
      <p:sp>
        <p:nvSpPr>
          <p:cNvPr id="55" name="Text 53"/>
          <p:cNvSpPr/>
          <p:nvPr/>
        </p:nvSpPr>
        <p:spPr>
          <a:xfrm>
            <a:off x="4983480" y="502920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核心优势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78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47472" cy="347472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087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DF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4904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论文内部Review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74650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提交马利军教授评审, 整合反馈意见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347472" cy="347472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2402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DF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2219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激活SikuBERT真实模型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4780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pip install transformers, 接入ernie-3.0-mini-zh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347472" cy="347472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9718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DF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953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CBDB真实专家数据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32095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替换模拟数据, 3589条北宋专家记录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703320"/>
            <a:ext cx="347472" cy="347472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7033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DF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685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投稿Digital Humanities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394106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目标期刊, 差异化定位语义深度分析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03049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0" y="7315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DF0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303520" y="1371600"/>
            <a:ext cx="1371600" cy="36576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王滇让研究团队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03520" y="19659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广州中医药大学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公共卫生管理学院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03520" y="2514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学术顾问: 马利军 教授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03520" y="3017520"/>
            <a:ext cx="1371600" cy="347472"/>
          </a:xfrm>
          <a:prstGeom prst="rect">
            <a:avLst>
              <a:gd name="adj" fmla="val 13158"/>
            </a:avLst>
          </a:prstGeom>
          <a:solidFill>
            <a:srgbClr val="C1121F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0" y="30175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DF0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v2.4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303520" y="3611880"/>
            <a:ext cx="54864" cy="256032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0" y="36118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贝叶斯PSI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303520" y="3995928"/>
            <a:ext cx="54864" cy="256032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0" y="39959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IPW偏差校正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303520" y="4379976"/>
            <a:ext cx="54864" cy="256032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0" y="43799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F0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四朝全周期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9B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Civilization-Oracle v2.4</dc:title>
  <dc:subject>Civilization-Oracle Presentation</dc:subject>
  <dc:creator>Wang Dianrang</dc:creator>
  <cp:lastModifiedBy>Wang Dianrang</cp:lastModifiedBy>
  <cp:revision>1</cp:revision>
  <dcterms:created xsi:type="dcterms:W3CDTF">2026-05-29T14:31:44Z</dcterms:created>
  <dcterms:modified xsi:type="dcterms:W3CDTF">2026-05-29T14:31:44Z</dcterms:modified>
</cp:coreProperties>
</file>